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5A"/>
    <a:srgbClr val="FF3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73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2"/>
          </a:solidFill>
          <a:ln w="12700">
            <a:solidFill>
              <a:srgbClr val="FFFA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201168"/>
            <a:ext cx="11795760" cy="6446520"/>
          </a:xfrm>
          <a:prstGeom prst="roundRect">
            <a:avLst>
              <a:gd name="adj" fmla="val 1135"/>
            </a:avLst>
          </a:prstGeom>
          <a:solidFill>
            <a:srgbClr val="FFFAF2">
              <a:alpha val="0"/>
            </a:srgbClr>
          </a:solidFill>
          <a:ln w="22860">
            <a:solidFill>
              <a:srgbClr val="211F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82528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082528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082528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082528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82528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01400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01400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01400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201400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201400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320272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320272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320272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320272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320272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439144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5216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439144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439144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5216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439144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439144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5216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558016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4088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558016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4088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558016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4088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558016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4088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1558016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4088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676888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22960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1676888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22960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676888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22960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676888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22960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676888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2960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1795760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41832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795760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1832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1795760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41832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795760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41832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795760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41832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4572" y="319374"/>
            <a:ext cx="4160519" cy="2371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900" b="1" dirty="0">
                <a:solidFill>
                  <a:srgbClr val="006E5A"/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QUIZIO</a:t>
            </a:r>
            <a:endParaRPr lang="en-US" sz="5400" dirty="0"/>
          </a:p>
        </p:txBody>
      </p:sp>
      <p:sp>
        <p:nvSpPr>
          <p:cNvPr id="77" name="Text 75"/>
          <p:cNvSpPr/>
          <p:nvPr/>
        </p:nvSpPr>
        <p:spPr>
          <a:xfrm>
            <a:off x="554258" y="3642930"/>
            <a:ext cx="4407407" cy="10477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Sistem za ustvarjanje, objavljanje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in reševanje kvizov</a:t>
            </a:r>
            <a:endParaRPr lang="en-US" sz="2400" dirty="0"/>
          </a:p>
        </p:txBody>
      </p:sp>
      <p:sp>
        <p:nvSpPr>
          <p:cNvPr id="78" name="Shape 76"/>
          <p:cNvSpPr/>
          <p:nvPr/>
        </p:nvSpPr>
        <p:spPr>
          <a:xfrm flipV="1">
            <a:off x="482803" y="2877489"/>
            <a:ext cx="4068376" cy="11029"/>
          </a:xfrm>
          <a:prstGeom prst="line">
            <a:avLst/>
          </a:prstGeom>
          <a:noFill/>
          <a:ln w="25400">
            <a:solidFill>
              <a:srgbClr val="00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7"/>
          <p:cNvSpPr/>
          <p:nvPr/>
        </p:nvSpPr>
        <p:spPr>
          <a:xfrm>
            <a:off x="475488" y="6108192"/>
            <a:ext cx="11201400" cy="0"/>
          </a:xfrm>
          <a:prstGeom prst="line">
            <a:avLst/>
          </a:prstGeom>
          <a:noFill/>
          <a:ln w="15240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08"/>
          <p:cNvSpPr/>
          <p:nvPr/>
        </p:nvSpPr>
        <p:spPr>
          <a:xfrm>
            <a:off x="566928" y="6172200"/>
            <a:ext cx="484632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Avtorji: Patrik Kocmut, Ismar Mujezinović, Omar Ždralović</a:t>
            </a:r>
            <a:endParaRPr lang="en-US" sz="1050" dirty="0"/>
          </a:p>
        </p:txBody>
      </p:sp>
      <p:sp>
        <p:nvSpPr>
          <p:cNvPr id="113" name="Text 109"/>
          <p:cNvSpPr/>
          <p:nvPr/>
        </p:nvSpPr>
        <p:spPr>
          <a:xfrm>
            <a:off x="5486400" y="6172200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Predmet: Praktikum II</a:t>
            </a:r>
            <a:endParaRPr lang="en-US" sz="1050" dirty="0"/>
          </a:p>
        </p:txBody>
      </p:sp>
      <p:sp>
        <p:nvSpPr>
          <p:cNvPr id="114" name="Text 110"/>
          <p:cNvSpPr/>
          <p:nvPr/>
        </p:nvSpPr>
        <p:spPr>
          <a:xfrm>
            <a:off x="9235440" y="6155742"/>
            <a:ext cx="2011680" cy="4096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Projekt: QUIZIO</a:t>
            </a:r>
            <a:endParaRPr lang="en-US" sz="105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3E71CBC-B394-0FCD-025F-4B460DACCFAB}"/>
              </a:ext>
            </a:extLst>
          </p:cNvPr>
          <p:cNvGrpSpPr/>
          <p:nvPr/>
        </p:nvGrpSpPr>
        <p:grpSpPr>
          <a:xfrm>
            <a:off x="4978122" y="1235594"/>
            <a:ext cx="6817637" cy="4214030"/>
            <a:chOff x="4978122" y="629108"/>
            <a:chExt cx="6817637" cy="4214030"/>
          </a:xfrm>
        </p:grpSpPr>
        <p:sp>
          <p:nvSpPr>
            <p:cNvPr id="115" name="Shape 96">
              <a:extLst>
                <a:ext uri="{FF2B5EF4-FFF2-40B4-BE49-F238E27FC236}">
                  <a16:creationId xmlns:a16="http://schemas.microsoft.com/office/drawing/2014/main" id="{77D765CB-16EB-EAC3-26B5-26FDE3854549}"/>
                </a:ext>
              </a:extLst>
            </p:cNvPr>
            <p:cNvSpPr/>
            <p:nvPr/>
          </p:nvSpPr>
          <p:spPr>
            <a:xfrm>
              <a:off x="4978122" y="629108"/>
              <a:ext cx="6817637" cy="421403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11F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0" name="Image 0" descr="/mnt/data/2a5780d1-aed3-4a8d-bccb-a2ae811fddd7.png"/>
            <p:cNvPicPr>
              <a:picLocks noChangeAspect="1"/>
            </p:cNvPicPr>
            <p:nvPr/>
          </p:nvPicPr>
          <p:blipFill>
            <a:blip r:embed="rId3"/>
            <a:srcRect l="20000" t="5000" r="-13129" b="20000"/>
            <a:stretch/>
          </p:blipFill>
          <p:spPr>
            <a:xfrm>
              <a:off x="5095990" y="795396"/>
              <a:ext cx="6570003" cy="3931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56"/>
            <a:ext cx="12191695" cy="6858000"/>
          </a:xfrm>
          <a:prstGeom prst="rect">
            <a:avLst/>
          </a:prstGeom>
          <a:solidFill>
            <a:srgbClr val="FFFAF2"/>
          </a:solidFill>
          <a:ln w="12700">
            <a:solidFill>
              <a:srgbClr val="FFFA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201168"/>
            <a:ext cx="11795760" cy="6446520"/>
          </a:xfrm>
          <a:prstGeom prst="roundRect">
            <a:avLst>
              <a:gd name="adj" fmla="val 1135"/>
            </a:avLst>
          </a:prstGeom>
          <a:solidFill>
            <a:srgbClr val="FFFAF2">
              <a:alpha val="0"/>
            </a:srgbClr>
          </a:solidFill>
          <a:ln w="22860">
            <a:solidFill>
              <a:srgbClr val="211F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82528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082528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082528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082528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82528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01400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01400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01400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201400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201400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320272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320272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320272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320272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320272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439144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5216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439144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439144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5216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439144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439144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5216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558016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4088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558016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4088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558016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4088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558016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4088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1558016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4088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676888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22960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1676888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22960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676888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22960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676888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22960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676888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2960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1795760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41832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795760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1832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1795760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41832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795760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41832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795760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41832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379781" y="312725"/>
            <a:ext cx="5585155" cy="8144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211F20"/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Kaj aplikacija podpira</a:t>
            </a:r>
            <a:endParaRPr lang="en-US" sz="4200" dirty="0"/>
          </a:p>
        </p:txBody>
      </p:sp>
      <p:sp>
        <p:nvSpPr>
          <p:cNvPr id="78" name="Text 75"/>
          <p:cNvSpPr/>
          <p:nvPr/>
        </p:nvSpPr>
        <p:spPr>
          <a:xfrm>
            <a:off x="379781" y="1156412"/>
            <a:ext cx="4572000" cy="73334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QUIZIO pokriva celoten proces od ustvarjanja kviza do reševanja in primerjave rezultatov.</a:t>
            </a:r>
            <a:endParaRPr lang="en-US" sz="1400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4CF3CEB-2E0E-F4ED-E563-B698EAEE15D7}"/>
              </a:ext>
            </a:extLst>
          </p:cNvPr>
          <p:cNvGrpSpPr/>
          <p:nvPr/>
        </p:nvGrpSpPr>
        <p:grpSpPr>
          <a:xfrm>
            <a:off x="658368" y="2144776"/>
            <a:ext cx="1527048" cy="1325880"/>
            <a:chOff x="658368" y="2788920"/>
            <a:chExt cx="1527048" cy="1325880"/>
          </a:xfrm>
        </p:grpSpPr>
        <p:sp>
          <p:nvSpPr>
            <p:cNvPr id="79" name="Shape 76"/>
            <p:cNvSpPr/>
            <p:nvPr/>
          </p:nvSpPr>
          <p:spPr>
            <a:xfrm>
              <a:off x="658368" y="2788920"/>
              <a:ext cx="1527048" cy="1325880"/>
            </a:xfrm>
            <a:prstGeom prst="rect">
              <a:avLst/>
            </a:prstGeom>
            <a:solidFill>
              <a:srgbClr val="EBE4D8"/>
            </a:solidFill>
            <a:ln w="12700">
              <a:solidFill>
                <a:srgbClr val="D6CE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77"/>
            <p:cNvSpPr/>
            <p:nvPr/>
          </p:nvSpPr>
          <p:spPr>
            <a:xfrm>
              <a:off x="700328" y="2830068"/>
              <a:ext cx="320040" cy="320040"/>
            </a:xfrm>
            <a:prstGeom prst="rect">
              <a:avLst/>
            </a:prstGeom>
            <a:solidFill>
              <a:srgbClr val="006E5A"/>
            </a:solidFill>
            <a:ln w="12700">
              <a:solidFill>
                <a:srgbClr val="006E5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78"/>
            <p:cNvSpPr/>
            <p:nvPr/>
          </p:nvSpPr>
          <p:spPr>
            <a:xfrm>
              <a:off x="775411" y="294182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25000" lnSpcReduction="20000"/>
            </a:bodyPr>
            <a:lstStyle/>
            <a:p>
              <a:pPr marL="0" indent="0" algn="ctr">
                <a:buNone/>
              </a:pPr>
              <a:r>
                <a:rPr lang="en-US" sz="5600" dirty="0">
                  <a:solidFill>
                    <a:srgbClr val="FFFFFF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1</a:t>
              </a:r>
              <a:endParaRPr lang="en-US" sz="1200" dirty="0"/>
            </a:p>
          </p:txBody>
        </p:sp>
        <p:sp>
          <p:nvSpPr>
            <p:cNvPr id="82" name="Text 79"/>
            <p:cNvSpPr/>
            <p:nvPr/>
          </p:nvSpPr>
          <p:spPr>
            <a:xfrm>
              <a:off x="658368" y="3248660"/>
              <a:ext cx="1527048" cy="73914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Admin </a:t>
              </a:r>
              <a:r>
                <a:rPr lang="en-US" sz="1700" b="1" dirty="0" err="1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ustva</a:t>
              </a:r>
              <a:r>
                <a:rPr lang="hr-HR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RI</a:t>
              </a:r>
              <a:r>
                <a:rPr lang="en-US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 </a:t>
              </a:r>
              <a:r>
                <a:rPr lang="en-US" sz="1700" b="1" dirty="0" err="1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kviz</a:t>
              </a:r>
              <a:endParaRPr lang="en-US" sz="1700" dirty="0"/>
            </a:p>
          </p:txBody>
        </p:sp>
      </p:grpSp>
      <p:sp>
        <p:nvSpPr>
          <p:cNvPr id="106" name="Shape 102"/>
          <p:cNvSpPr/>
          <p:nvPr/>
        </p:nvSpPr>
        <p:spPr>
          <a:xfrm>
            <a:off x="475488" y="6108192"/>
            <a:ext cx="11201400" cy="0"/>
          </a:xfrm>
          <a:prstGeom prst="line">
            <a:avLst/>
          </a:prstGeom>
          <a:noFill/>
          <a:ln w="15240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3"/>
          <p:cNvSpPr/>
          <p:nvPr/>
        </p:nvSpPr>
        <p:spPr>
          <a:xfrm>
            <a:off x="566928" y="6155742"/>
            <a:ext cx="4846320" cy="40965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Avtorji: Patrik Kocmut, Ismar Mujezinović, Omar Ždralović</a:t>
            </a:r>
            <a:endParaRPr lang="en-US" sz="1050" dirty="0"/>
          </a:p>
        </p:txBody>
      </p:sp>
      <p:sp>
        <p:nvSpPr>
          <p:cNvPr id="108" name="Text 104"/>
          <p:cNvSpPr/>
          <p:nvPr/>
        </p:nvSpPr>
        <p:spPr>
          <a:xfrm>
            <a:off x="5486400" y="6172200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Predmet: Praktikum II</a:t>
            </a:r>
            <a:endParaRPr lang="en-US" sz="1050" dirty="0"/>
          </a:p>
        </p:txBody>
      </p:sp>
      <p:sp>
        <p:nvSpPr>
          <p:cNvPr id="109" name="Text 105"/>
          <p:cNvSpPr/>
          <p:nvPr/>
        </p:nvSpPr>
        <p:spPr>
          <a:xfrm>
            <a:off x="9235440" y="6227064"/>
            <a:ext cx="201168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Projekt: QUIZIO</a:t>
            </a:r>
            <a:endParaRPr lang="en-US" sz="1050" dirty="0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4991CD4-CCDD-ACBD-260F-995914AEA013}"/>
              </a:ext>
            </a:extLst>
          </p:cNvPr>
          <p:cNvGrpSpPr/>
          <p:nvPr/>
        </p:nvGrpSpPr>
        <p:grpSpPr>
          <a:xfrm>
            <a:off x="4645558" y="1156412"/>
            <a:ext cx="6912458" cy="4395825"/>
            <a:chOff x="8019693" y="1561795"/>
            <a:chExt cx="3792526" cy="2785266"/>
          </a:xfrm>
        </p:grpSpPr>
        <p:sp>
          <p:nvSpPr>
            <p:cNvPr id="99" name="Shape 96"/>
            <p:cNvSpPr/>
            <p:nvPr/>
          </p:nvSpPr>
          <p:spPr>
            <a:xfrm>
              <a:off x="8019693" y="1561795"/>
              <a:ext cx="3792526" cy="2785266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11F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130022D1-3463-4EA8-3992-4549340C3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8615" y="1680667"/>
              <a:ext cx="3434681" cy="2560422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BDFAB72-350B-42D9-679E-1C33A76EA38E}"/>
              </a:ext>
            </a:extLst>
          </p:cNvPr>
          <p:cNvGrpSpPr/>
          <p:nvPr/>
        </p:nvGrpSpPr>
        <p:grpSpPr>
          <a:xfrm>
            <a:off x="2464308" y="2144776"/>
            <a:ext cx="1527048" cy="1325880"/>
            <a:chOff x="658368" y="2788920"/>
            <a:chExt cx="1527048" cy="1325880"/>
          </a:xfrm>
        </p:grpSpPr>
        <p:sp>
          <p:nvSpPr>
            <p:cNvPr id="114" name="Shape 76">
              <a:extLst>
                <a:ext uri="{FF2B5EF4-FFF2-40B4-BE49-F238E27FC236}">
                  <a16:creationId xmlns:a16="http://schemas.microsoft.com/office/drawing/2014/main" id="{56899209-8A54-E3C6-3421-C271D3A9E5C6}"/>
                </a:ext>
              </a:extLst>
            </p:cNvPr>
            <p:cNvSpPr/>
            <p:nvPr/>
          </p:nvSpPr>
          <p:spPr>
            <a:xfrm>
              <a:off x="658368" y="2788920"/>
              <a:ext cx="1527048" cy="1325880"/>
            </a:xfrm>
            <a:prstGeom prst="rect">
              <a:avLst/>
            </a:prstGeom>
            <a:solidFill>
              <a:srgbClr val="EBE4D8"/>
            </a:solidFill>
            <a:ln w="12700">
              <a:solidFill>
                <a:srgbClr val="D6CE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Shape 77">
              <a:extLst>
                <a:ext uri="{FF2B5EF4-FFF2-40B4-BE49-F238E27FC236}">
                  <a16:creationId xmlns:a16="http://schemas.microsoft.com/office/drawing/2014/main" id="{3D46683F-F344-006E-4F7B-67FFD195A0D1}"/>
                </a:ext>
              </a:extLst>
            </p:cNvPr>
            <p:cNvSpPr/>
            <p:nvPr/>
          </p:nvSpPr>
          <p:spPr>
            <a:xfrm>
              <a:off x="700328" y="2830068"/>
              <a:ext cx="320040" cy="320040"/>
            </a:xfrm>
            <a:prstGeom prst="rect">
              <a:avLst/>
            </a:prstGeom>
            <a:solidFill>
              <a:srgbClr val="006E5A"/>
            </a:solidFill>
            <a:ln w="12700">
              <a:solidFill>
                <a:srgbClr val="006E5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Text 78">
              <a:extLst>
                <a:ext uri="{FF2B5EF4-FFF2-40B4-BE49-F238E27FC236}">
                  <a16:creationId xmlns:a16="http://schemas.microsoft.com/office/drawing/2014/main" id="{8FDB33F0-F581-D8F5-204A-78237FF8ED62}"/>
                </a:ext>
              </a:extLst>
            </p:cNvPr>
            <p:cNvSpPr/>
            <p:nvPr/>
          </p:nvSpPr>
          <p:spPr>
            <a:xfrm>
              <a:off x="775411" y="294182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25000" lnSpcReduction="20000"/>
            </a:bodyPr>
            <a:lstStyle/>
            <a:p>
              <a:pPr marL="0" indent="0" algn="ctr">
                <a:buNone/>
              </a:pPr>
              <a:r>
                <a:rPr lang="hr-HR" sz="5600" dirty="0">
                  <a:solidFill>
                    <a:srgbClr val="FFFFFF"/>
                  </a:solidFill>
                  <a:latin typeface="Staatliches" pitchFamily="34" charset="0"/>
                </a:rPr>
                <a:t>2</a:t>
              </a:r>
              <a:endParaRPr lang="en-US" sz="1200" dirty="0"/>
            </a:p>
          </p:txBody>
        </p:sp>
        <p:sp>
          <p:nvSpPr>
            <p:cNvPr id="117" name="Text 79">
              <a:extLst>
                <a:ext uri="{FF2B5EF4-FFF2-40B4-BE49-F238E27FC236}">
                  <a16:creationId xmlns:a16="http://schemas.microsoft.com/office/drawing/2014/main" id="{E4FC1B4D-E737-B076-64E1-AC59C9B39CE6}"/>
                </a:ext>
              </a:extLst>
            </p:cNvPr>
            <p:cNvSpPr/>
            <p:nvPr/>
          </p:nvSpPr>
          <p:spPr>
            <a:xfrm>
              <a:off x="658368" y="3248660"/>
              <a:ext cx="1527048" cy="73914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hr-HR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ADMIN OBJAVI KVIZ</a:t>
              </a:r>
              <a:endParaRPr lang="en-US" sz="1700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5778D0-03DF-0212-5DDD-FDAA96EFFEAF}"/>
              </a:ext>
            </a:extLst>
          </p:cNvPr>
          <p:cNvGrpSpPr/>
          <p:nvPr/>
        </p:nvGrpSpPr>
        <p:grpSpPr>
          <a:xfrm>
            <a:off x="694944" y="3656279"/>
            <a:ext cx="1527048" cy="1325880"/>
            <a:chOff x="658368" y="2788920"/>
            <a:chExt cx="1527048" cy="1325880"/>
          </a:xfrm>
        </p:grpSpPr>
        <p:sp>
          <p:nvSpPr>
            <p:cNvPr id="119" name="Shape 76">
              <a:extLst>
                <a:ext uri="{FF2B5EF4-FFF2-40B4-BE49-F238E27FC236}">
                  <a16:creationId xmlns:a16="http://schemas.microsoft.com/office/drawing/2014/main" id="{0C43532C-E20F-DECA-232A-F32C7D56EB46}"/>
                </a:ext>
              </a:extLst>
            </p:cNvPr>
            <p:cNvSpPr/>
            <p:nvPr/>
          </p:nvSpPr>
          <p:spPr>
            <a:xfrm>
              <a:off x="658368" y="2788920"/>
              <a:ext cx="1527048" cy="1325880"/>
            </a:xfrm>
            <a:prstGeom prst="rect">
              <a:avLst/>
            </a:prstGeom>
            <a:solidFill>
              <a:srgbClr val="EBE4D8"/>
            </a:solidFill>
            <a:ln w="12700">
              <a:solidFill>
                <a:srgbClr val="D6CE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77">
              <a:extLst>
                <a:ext uri="{FF2B5EF4-FFF2-40B4-BE49-F238E27FC236}">
                  <a16:creationId xmlns:a16="http://schemas.microsoft.com/office/drawing/2014/main" id="{EE7031C1-0F45-E426-1FE1-D36FF5BA0232}"/>
                </a:ext>
              </a:extLst>
            </p:cNvPr>
            <p:cNvSpPr/>
            <p:nvPr/>
          </p:nvSpPr>
          <p:spPr>
            <a:xfrm>
              <a:off x="700328" y="2830068"/>
              <a:ext cx="320040" cy="320040"/>
            </a:xfrm>
            <a:prstGeom prst="rect">
              <a:avLst/>
            </a:prstGeom>
            <a:solidFill>
              <a:srgbClr val="006E5A"/>
            </a:solidFill>
            <a:ln w="12700">
              <a:solidFill>
                <a:srgbClr val="006E5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Text 78">
              <a:extLst>
                <a:ext uri="{FF2B5EF4-FFF2-40B4-BE49-F238E27FC236}">
                  <a16:creationId xmlns:a16="http://schemas.microsoft.com/office/drawing/2014/main" id="{5A51CF49-86AB-917A-587B-06233D9699AD}"/>
                </a:ext>
              </a:extLst>
            </p:cNvPr>
            <p:cNvSpPr/>
            <p:nvPr/>
          </p:nvSpPr>
          <p:spPr>
            <a:xfrm>
              <a:off x="775411" y="294182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25000" lnSpcReduction="20000"/>
            </a:bodyPr>
            <a:lstStyle/>
            <a:p>
              <a:pPr marL="0" indent="0" algn="ctr">
                <a:buNone/>
              </a:pPr>
              <a:r>
                <a:rPr lang="hr-HR" sz="5600" dirty="0">
                  <a:solidFill>
                    <a:srgbClr val="FFFFFF"/>
                  </a:solidFill>
                  <a:latin typeface="Staatliches" pitchFamily="34" charset="0"/>
                </a:rPr>
                <a:t>3</a:t>
              </a:r>
              <a:endParaRPr lang="en-US" sz="1200" dirty="0"/>
            </a:p>
          </p:txBody>
        </p:sp>
        <p:sp>
          <p:nvSpPr>
            <p:cNvPr id="122" name="Text 79">
              <a:extLst>
                <a:ext uri="{FF2B5EF4-FFF2-40B4-BE49-F238E27FC236}">
                  <a16:creationId xmlns:a16="http://schemas.microsoft.com/office/drawing/2014/main" id="{ABC76B7B-66E3-95B6-32EB-3786844BF40D}"/>
                </a:ext>
              </a:extLst>
            </p:cNvPr>
            <p:cNvSpPr/>
            <p:nvPr/>
          </p:nvSpPr>
          <p:spPr>
            <a:xfrm>
              <a:off x="658368" y="3248660"/>
              <a:ext cx="1527048" cy="73914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hr-HR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UPORABNIKI</a:t>
              </a:r>
              <a:r>
                <a:rPr lang="en-US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 </a:t>
              </a:r>
              <a:r>
                <a:rPr lang="hr-HR" sz="1700" b="1" dirty="0" err="1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Rešijo</a:t>
              </a:r>
              <a:r>
                <a:rPr lang="hr-HR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 kviz</a:t>
              </a:r>
              <a:endParaRPr lang="en-US" sz="1700" dirty="0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4300865-39A0-E465-0290-E7E83A639B7F}"/>
              </a:ext>
            </a:extLst>
          </p:cNvPr>
          <p:cNvGrpSpPr/>
          <p:nvPr/>
        </p:nvGrpSpPr>
        <p:grpSpPr>
          <a:xfrm>
            <a:off x="2464308" y="3659124"/>
            <a:ext cx="1527048" cy="1325880"/>
            <a:chOff x="658368" y="2788920"/>
            <a:chExt cx="1527048" cy="1325880"/>
          </a:xfrm>
        </p:grpSpPr>
        <p:sp>
          <p:nvSpPr>
            <p:cNvPr id="124" name="Shape 76">
              <a:extLst>
                <a:ext uri="{FF2B5EF4-FFF2-40B4-BE49-F238E27FC236}">
                  <a16:creationId xmlns:a16="http://schemas.microsoft.com/office/drawing/2014/main" id="{9B7C3503-940F-12A4-9B5C-F9F3C56B5788}"/>
                </a:ext>
              </a:extLst>
            </p:cNvPr>
            <p:cNvSpPr/>
            <p:nvPr/>
          </p:nvSpPr>
          <p:spPr>
            <a:xfrm>
              <a:off x="658368" y="2788920"/>
              <a:ext cx="1527048" cy="1325880"/>
            </a:xfrm>
            <a:prstGeom prst="rect">
              <a:avLst/>
            </a:prstGeom>
            <a:solidFill>
              <a:srgbClr val="EBE4D8"/>
            </a:solidFill>
            <a:ln w="12700">
              <a:solidFill>
                <a:srgbClr val="D6CE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Shape 77">
              <a:extLst>
                <a:ext uri="{FF2B5EF4-FFF2-40B4-BE49-F238E27FC236}">
                  <a16:creationId xmlns:a16="http://schemas.microsoft.com/office/drawing/2014/main" id="{38DDACD9-26AA-82B0-DC38-E21472376D4C}"/>
                </a:ext>
              </a:extLst>
            </p:cNvPr>
            <p:cNvSpPr/>
            <p:nvPr/>
          </p:nvSpPr>
          <p:spPr>
            <a:xfrm>
              <a:off x="700328" y="2830068"/>
              <a:ext cx="320040" cy="320040"/>
            </a:xfrm>
            <a:prstGeom prst="rect">
              <a:avLst/>
            </a:prstGeom>
            <a:solidFill>
              <a:srgbClr val="FF3C38"/>
            </a:solidFill>
            <a:ln w="12700">
              <a:solidFill>
                <a:srgbClr val="FF3C3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Text 78">
              <a:extLst>
                <a:ext uri="{FF2B5EF4-FFF2-40B4-BE49-F238E27FC236}">
                  <a16:creationId xmlns:a16="http://schemas.microsoft.com/office/drawing/2014/main" id="{CDF2CD4A-3660-E88E-48E8-5FB5641D00F9}"/>
                </a:ext>
              </a:extLst>
            </p:cNvPr>
            <p:cNvSpPr/>
            <p:nvPr/>
          </p:nvSpPr>
          <p:spPr>
            <a:xfrm>
              <a:off x="775411" y="294182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 fontScale="25000" lnSpcReduction="20000"/>
            </a:bodyPr>
            <a:lstStyle/>
            <a:p>
              <a:pPr marL="0" indent="0" algn="ctr">
                <a:buNone/>
              </a:pPr>
              <a:r>
                <a:rPr lang="hr-HR" sz="5600" dirty="0">
                  <a:solidFill>
                    <a:srgbClr val="FFFFFF"/>
                  </a:solidFill>
                  <a:latin typeface="Staatliches" pitchFamily="34" charset="0"/>
                </a:rPr>
                <a:t>4</a:t>
              </a:r>
              <a:endParaRPr lang="en-US" sz="1200" dirty="0"/>
            </a:p>
          </p:txBody>
        </p:sp>
        <p:sp>
          <p:nvSpPr>
            <p:cNvPr id="127" name="Text 79">
              <a:extLst>
                <a:ext uri="{FF2B5EF4-FFF2-40B4-BE49-F238E27FC236}">
                  <a16:creationId xmlns:a16="http://schemas.microsoft.com/office/drawing/2014/main" id="{A358D250-74FB-E3C8-9D0E-0C5AEB321E9F}"/>
                </a:ext>
              </a:extLst>
            </p:cNvPr>
            <p:cNvSpPr/>
            <p:nvPr/>
          </p:nvSpPr>
          <p:spPr>
            <a:xfrm>
              <a:off x="658368" y="3248660"/>
              <a:ext cx="1527048" cy="739140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marL="0" indent="0">
                <a:buNone/>
              </a:pPr>
              <a:r>
                <a:rPr lang="hr-HR" sz="1700" b="1" dirty="0">
                  <a:solidFill>
                    <a:srgbClr val="211F20"/>
                  </a:solidFill>
                  <a:latin typeface="Staatliches" pitchFamily="34" charset="0"/>
                  <a:ea typeface="Staatliches" pitchFamily="34" charset="-122"/>
                  <a:cs typeface="Staatliches" pitchFamily="34" charset="-120"/>
                </a:rPr>
                <a:t>LEADERBOARD</a:t>
              </a:r>
              <a:endParaRPr lang="en-US" sz="1700" dirty="0"/>
            </a:p>
          </p:txBody>
        </p:sp>
      </p:grpSp>
      <p:sp>
        <p:nvSpPr>
          <p:cNvPr id="128" name="Text 74">
            <a:extLst>
              <a:ext uri="{FF2B5EF4-FFF2-40B4-BE49-F238E27FC236}">
                <a16:creationId xmlns:a16="http://schemas.microsoft.com/office/drawing/2014/main" id="{996ADDEE-E447-CC87-A09A-F967A2F4FD72}"/>
              </a:ext>
            </a:extLst>
          </p:cNvPr>
          <p:cNvSpPr/>
          <p:nvPr/>
        </p:nvSpPr>
        <p:spPr>
          <a:xfrm>
            <a:off x="10580116" y="201168"/>
            <a:ext cx="1480312" cy="8144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hr-HR" sz="4200" dirty="0">
                <a:solidFill>
                  <a:srgbClr val="006E5A"/>
                </a:solidFill>
                <a:latin typeface="+mj-lt"/>
              </a:rPr>
              <a:t>QUIZIO</a:t>
            </a:r>
            <a:endParaRPr lang="en-US" sz="4200" dirty="0">
              <a:solidFill>
                <a:srgbClr val="006E5A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2"/>
          </a:solidFill>
          <a:ln w="12700">
            <a:solidFill>
              <a:srgbClr val="FFFA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201168"/>
            <a:ext cx="11795760" cy="6446520"/>
          </a:xfrm>
          <a:prstGeom prst="roundRect">
            <a:avLst>
              <a:gd name="adj" fmla="val 1135"/>
            </a:avLst>
          </a:prstGeom>
          <a:solidFill>
            <a:srgbClr val="FFFAF2">
              <a:alpha val="0"/>
            </a:srgbClr>
          </a:solidFill>
          <a:ln w="22860">
            <a:solidFill>
              <a:srgbClr val="211F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082528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082528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082528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082528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82528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01400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01400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01400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201400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201400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320272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320272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320272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320272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320272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1439144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5216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439144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1439144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5216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439144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5216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439144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5216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558016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04088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558016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4088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558016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4088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558016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04088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1558016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4088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676888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22960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1676888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22960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676888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22960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1676888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22960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676888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2960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1795760" y="137160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41832" y="6172200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795760" y="256032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1832" y="6291072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1795760" y="374904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41832" y="6409944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795760" y="493776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41832" y="6528816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795760" y="612648"/>
            <a:ext cx="16459" cy="16459"/>
          </a:xfrm>
          <a:prstGeom prst="ellipse">
            <a:avLst/>
          </a:prstGeom>
          <a:solidFill>
            <a:srgbClr val="006E5A">
              <a:alpha val="45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41832" y="6647688"/>
            <a:ext cx="16459" cy="16459"/>
          </a:xfrm>
          <a:prstGeom prst="ellipse">
            <a:avLst/>
          </a:prstGeom>
          <a:solidFill>
            <a:srgbClr val="006E5A">
              <a:alpha val="42000"/>
            </a:srgbClr>
          </a:solidFill>
          <a:ln w="12700">
            <a:solidFill>
              <a:srgbClr val="006E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DFF073A-E662-BDD9-6D69-E474804F9C18}"/>
              </a:ext>
            </a:extLst>
          </p:cNvPr>
          <p:cNvGrpSpPr/>
          <p:nvPr/>
        </p:nvGrpSpPr>
        <p:grpSpPr>
          <a:xfrm>
            <a:off x="3391025" y="1365771"/>
            <a:ext cx="5370325" cy="4117313"/>
            <a:chOff x="3782602" y="1590563"/>
            <a:chExt cx="5370325" cy="4117313"/>
          </a:xfrm>
        </p:grpSpPr>
        <p:sp>
          <p:nvSpPr>
            <p:cNvPr id="79" name="Shape 76"/>
            <p:cNvSpPr/>
            <p:nvPr/>
          </p:nvSpPr>
          <p:spPr>
            <a:xfrm>
              <a:off x="3782602" y="1590563"/>
              <a:ext cx="5370325" cy="4117313"/>
            </a:xfrm>
            <a:prstGeom prst="roundRect">
              <a:avLst>
                <a:gd name="adj" fmla="val 1389"/>
              </a:avLst>
            </a:prstGeom>
            <a:solidFill>
              <a:srgbClr val="FFFFFF"/>
            </a:solidFill>
            <a:ln w="17780">
              <a:solidFill>
                <a:srgbClr val="211F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0" name="Image 1" descr="/mnt/data/fram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7759" y="1728216"/>
              <a:ext cx="3866270" cy="3866270"/>
            </a:xfrm>
            <a:prstGeom prst="rect">
              <a:avLst/>
            </a:prstGeom>
          </p:spPr>
        </p:pic>
      </p:grpSp>
      <p:sp>
        <p:nvSpPr>
          <p:cNvPr id="95" name="Shape 91"/>
          <p:cNvSpPr/>
          <p:nvPr/>
        </p:nvSpPr>
        <p:spPr>
          <a:xfrm>
            <a:off x="475488" y="6108192"/>
            <a:ext cx="11201400" cy="0"/>
          </a:xfrm>
          <a:prstGeom prst="line">
            <a:avLst/>
          </a:prstGeom>
          <a:noFill/>
          <a:ln w="15240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2"/>
          <p:cNvSpPr/>
          <p:nvPr/>
        </p:nvSpPr>
        <p:spPr>
          <a:xfrm>
            <a:off x="566928" y="6172200"/>
            <a:ext cx="484632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Avtorji: Patrik Kocmut, Ismar Mujezinović, Omar Ždralović</a:t>
            </a:r>
            <a:endParaRPr lang="en-US" sz="1050" dirty="0"/>
          </a:p>
        </p:txBody>
      </p:sp>
      <p:sp>
        <p:nvSpPr>
          <p:cNvPr id="97" name="Text 93"/>
          <p:cNvSpPr/>
          <p:nvPr/>
        </p:nvSpPr>
        <p:spPr>
          <a:xfrm>
            <a:off x="5486400" y="6188659"/>
            <a:ext cx="2103120" cy="3767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Predmet: Praktikum II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9235440" y="6188659"/>
            <a:ext cx="2011680" cy="3767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11F20"/>
                </a:solidFill>
                <a:latin typeface="Switzer Variable" pitchFamily="34" charset="0"/>
                <a:ea typeface="Switzer Variable" pitchFamily="34" charset="-122"/>
                <a:cs typeface="Switzer Variable" pitchFamily="34" charset="-120"/>
              </a:rPr>
              <a:t>Projekt: QUIZIO</a:t>
            </a:r>
            <a:endParaRPr lang="en-US" sz="1050" dirty="0"/>
          </a:p>
        </p:txBody>
      </p:sp>
      <p:sp>
        <p:nvSpPr>
          <p:cNvPr id="99" name="Text 74">
            <a:extLst>
              <a:ext uri="{FF2B5EF4-FFF2-40B4-BE49-F238E27FC236}">
                <a16:creationId xmlns:a16="http://schemas.microsoft.com/office/drawing/2014/main" id="{0127A759-1CC7-4F56-ECB2-97228D1A828A}"/>
              </a:ext>
            </a:extLst>
          </p:cNvPr>
          <p:cNvSpPr/>
          <p:nvPr/>
        </p:nvSpPr>
        <p:spPr>
          <a:xfrm>
            <a:off x="10580116" y="201168"/>
            <a:ext cx="1480312" cy="8144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hr-HR" sz="4200" dirty="0">
                <a:solidFill>
                  <a:srgbClr val="006E5A"/>
                </a:solidFill>
                <a:latin typeface="+mj-lt"/>
              </a:rPr>
              <a:t>QUIZIO</a:t>
            </a:r>
            <a:endParaRPr lang="en-US" sz="4200" dirty="0">
              <a:solidFill>
                <a:srgbClr val="006E5A"/>
              </a:solidFill>
              <a:latin typeface="+mj-lt"/>
            </a:endParaRPr>
          </a:p>
        </p:txBody>
      </p:sp>
      <p:sp>
        <p:nvSpPr>
          <p:cNvPr id="101" name="Text 74">
            <a:extLst>
              <a:ext uri="{FF2B5EF4-FFF2-40B4-BE49-F238E27FC236}">
                <a16:creationId xmlns:a16="http://schemas.microsoft.com/office/drawing/2014/main" id="{7E1E1E34-525B-A603-180E-90FF9F72F581}"/>
              </a:ext>
            </a:extLst>
          </p:cNvPr>
          <p:cNvSpPr/>
          <p:nvPr/>
        </p:nvSpPr>
        <p:spPr>
          <a:xfrm>
            <a:off x="379781" y="312725"/>
            <a:ext cx="5585155" cy="81442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hr-HR" sz="4200" b="1" dirty="0">
                <a:solidFill>
                  <a:srgbClr val="211F20"/>
                </a:solidFill>
                <a:latin typeface="Staatliches" pitchFamily="34" charset="0"/>
                <a:ea typeface="Staatliches" pitchFamily="34" charset="-122"/>
                <a:cs typeface="Staatliches" pitchFamily="34" charset="-120"/>
              </a:rPr>
              <a:t>SODELUJ TUDI TI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atlich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witzer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99</Words>
  <Application>Microsoft Office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Staatliches</vt:lpstr>
      <vt:lpstr>Switzer Variable</vt:lpstr>
      <vt:lpstr>Office Theme</vt:lpstr>
      <vt:lpstr>PowerPoint Presentation</vt:lpstr>
      <vt:lpstr>PowerPoint Presentation</vt:lpstr>
      <vt:lpstr>PowerPoint Presentation</vt:lpstr>
    </vt:vector>
  </TitlesOfParts>
  <Company>QUIZIO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QUIZIO - projektna predstavitev</dc:title>
  <dc:subject>QUIZIO projektna predstavitev</dc:subject>
  <dc:creator>Patrik Kocmut, Ismar Mujezinović, Omar Ždralović</dc:creator>
  <cp:lastModifiedBy>Omar Ždralović</cp:lastModifiedBy>
  <cp:revision>2</cp:revision>
  <dcterms:created xsi:type="dcterms:W3CDTF">2026-06-11T09:32:22Z</dcterms:created>
  <dcterms:modified xsi:type="dcterms:W3CDTF">2026-06-11T09:55:21Z</dcterms:modified>
</cp:coreProperties>
</file>